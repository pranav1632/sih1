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SMART INDIA HACKATHON 2026 | PROBLEM STATEMENT 26154 | 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SENTINEL-TRANSFORM</a:t>
            </a:r>
          </a:p>
          <a:p>
            <a:pPr>
              <a:spcBef>
                <a:spcPts val="800"/>
              </a:spcBef>
              <a:defRPr sz="2000">
                <a:solidFill>
                  <a:srgbClr val="2DD4BF"/>
                </a:solidFill>
              </a:defRPr>
            </a:pPr>
            <a:r>
              <a:t>Sovereign Multi-Format Intelligence Transformation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5120640" cy="23774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OPERATIONAL FOCUS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Theme: Blockchain &amp; Cybersecurity | Software Category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National Technical Research Organisation (NTRO)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Air-Gapped Sovereign Deployment: 0 KB Egress by Architecture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1 Source Document -&gt; 7 Production Deliverables Simultaneously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3657600"/>
            <a:ext cx="5212080" cy="23774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FLAGSHIP INNOVATIONS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Entity Fact-Check Hard Gate: Flags transpositions in &lt;10ms CPU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Deterministic Compilation: Pydantic schemas -&gt; real .pptx &amp; .docx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Sentence-Level Provenance: Click-to-highlight chunk coordinates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•  Primary/Supporting Governance: Auto-resolves conflicting numbers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INNOVATION &amp; UNIQUENESS: BEYOND BLACK-BOX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365760"/>
            <a:ext cx="1828800" cy="640080"/>
          </a:xfrm>
          <a:prstGeom prst="rect">
            <a:avLst/>
          </a:prstGeom>
          <a:solidFill>
            <a:srgbClr val="0C4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 KB EGRESS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THE PROPOSED SOLUTION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 Transforms 1 analyst-supplied report into 7 mission deliverables.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 Anchored to single immutable shared context (zero cross-format contradiction).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 Deterministic compilation: LLM writes structured schema, code compiles native files.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212080" cy="2011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HOW IT ADDRESSES THE NTRO BOTTLENECK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 Reclaims ~70% analyst bandwidth spent rewriting across audience formats.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 Air-gapped by design: Classified intelligence never touches cloud APIs.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 Forensic sentence provenance: Every fact cites specific source chunk and 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2084831" cy="2743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1. Zero-Egress Air-Gap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Local Ollama runtime, no API keys, zero cloud telemetry.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3566160"/>
            <a:ext cx="2084831" cy="274320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2. Hard Gate (&lt;10ms)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spaCy+RapidFuzz catches transpositions &amp; locks download.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7216" y="3566160"/>
            <a:ext cx="2084831" cy="2743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3. Source Governance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1.0 / 0.5 authority weights resolve cross-doc number clashes.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70064" y="3566160"/>
            <a:ext cx="2084831" cy="2743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4. Deterministic Code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Pydantic v2 schemas compile into authentic .pptx and .docx.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82912" y="3566160"/>
            <a:ext cx="2084831" cy="27432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5. Sentence Provenance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Clickable [Ref: P.2] drawer scrolls &amp; highlights source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TECHNOLOGY STACK: 100% ON-PREMISE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42032" cy="42062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INGESTION &amp; SEI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PyMuPDF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PDF page &amp; char-level indexing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python-docx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Document &amp; table parsing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Tesseract OCR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Scanned tactical images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faster-whisper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Local audio/video ASR (int8)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SQLite SEI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Source Evidence Index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280160"/>
            <a:ext cx="2542032" cy="42062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ORCHESTRATION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LangGraph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Deterministic StateGraph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MemorySaver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Checkpoint state persistence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Bounded Reflection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Self-audit loop (cap &lt;= 1)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Interrupt Before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Pause before export node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FastAPI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Async endpoints + HTTP 423 lock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80160"/>
            <a:ext cx="2542032" cy="42062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INFERENCE &amp; VERIFICATION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Ollama Local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qwen2.5:3b (CPU) / 7b (GPU)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spaCy NER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en_core_web_sm (&lt;10ms)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RapidFuzz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Token transposition matching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Hard Gate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Physical export locking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NetworkX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GraphRAG traversal (Phase 2)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280160"/>
            <a:ext cx="2542032" cy="420624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EXPORT &amp; INTERFACE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python-pptx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Native slides + speaker notes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python-docx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Formal institutional advisories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React + Vite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TypeScript dark-mode UI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Tailwind CSS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Tactical military aesthetic</a:t>
            </a:r>
          </a:p>
          <a:p>
            <a:pPr>
              <a:spcBef>
                <a:spcPts val="600"/>
              </a:spcBef>
              <a:defRPr sz="1100" b="1">
                <a:solidFill>
                  <a:srgbClr val="F8FAFC"/>
                </a:solidFill>
              </a:defRPr>
            </a:pPr>
            <a:r>
              <a:t>• Citation Drawer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Hover-to-highlight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solidFill>
            <a:srgbClr val="134E4A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HARDWARE EXECUTION POLICY: Dev on Windows 11 CPU (qwen2.5:3b) | Demo on RTX 3050 (qwen2.5:7b) | 0 KB Outbound Network Egress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RISK MITIGATION &amp; SCIENTIFIC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5780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RISK: Local LLM Latency During Demo</a:t>
            </a:r>
          </a:p>
          <a:p>
            <a:pPr>
              <a:spcBef>
                <a:spcPts val="200"/>
              </a:spcBef>
              <a:defRPr sz="1100" b="1">
                <a:solidFill>
                  <a:srgbClr val="4ADE80"/>
                </a:solidFill>
              </a:defRPr>
            </a:pPr>
            <a:r>
              <a:t>MITIGATION: Fast-Forward Video &amp; Model Tiering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Scripted video uses 4x-8x fast-forward with on-screen timer during model passes; universal fallback phi4-mini / 3B ensures instant turnaround.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280160"/>
            <a:ext cx="525780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RISK: Entity Gate False-Flags Synonyms</a:t>
            </a:r>
          </a:p>
          <a:p>
            <a:pPr>
              <a:spcBef>
                <a:spcPts val="200"/>
              </a:spcBef>
              <a:defRPr sz="1100" b="1">
                <a:solidFill>
                  <a:srgbClr val="4ADE80"/>
                </a:solidFill>
              </a:defRPr>
            </a:pPr>
            <a:r>
              <a:t>MITIGATION: Tuned 75%-99% Similarity Band + Override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Strict ratio matching targets transposed word order; analyst retains one-click 'Override with Signed Authorization' so platform never blocks silently.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91840"/>
            <a:ext cx="525780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RISK: Conflicting Facts Across Documents</a:t>
            </a:r>
          </a:p>
          <a:p>
            <a:pPr>
              <a:spcBef>
                <a:spcPts val="200"/>
              </a:spcBef>
              <a:defRPr sz="1100" b="1">
                <a:solidFill>
                  <a:srgbClr val="4ADE80"/>
                </a:solidFill>
              </a:defRPr>
            </a:pPr>
            <a:r>
              <a:t>MITIGATION: Deterministic Source Governance (1.0 vs 0.5)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Primary doc given 1.0 weight; supporting doc given 0.5 weight. Numerical discrepancies automatically flagged in merged context.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291840"/>
            <a:ext cx="5257800" cy="1828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RISK: Judges Skeptical of 'Zero Hallucination'</a:t>
            </a:r>
          </a:p>
          <a:p>
            <a:pPr>
              <a:spcBef>
                <a:spcPts val="200"/>
              </a:spcBef>
              <a:defRPr sz="1100" b="1">
                <a:solidFill>
                  <a:srgbClr val="4ADE80"/>
                </a:solidFill>
              </a:defRPr>
            </a:pPr>
            <a:r>
              <a:t>MITIGATION: Deliberate Live Transposition Demonstration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Demo deliberately triggers 'Directorate of Grid Power Resilience' vs source 'Directorate of Power Grid Resilience' showing Hard Gate halting export.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WHY IT IS FEASIBLE &amp; DEFENSE-GRADE: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</a:defRPr>
            </a:pPr>
            <a:r>
              <a:t>Every component runs locally on CPU with zero internet connection. Built on published peer-reviewed methods: Dhuliawala et al. (ACL 2024, CoVe) and Tang et al. (EMNLP 2024, MiniCheck). 47/47 test cases passing with sub-10ms entity matching.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MISSION IMPACT &amp; OPERATIONAL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OPERATIONAL SPEED: </a:t>
            </a:r>
            <a:r>
              <a:rPr sz="1000">
                <a:solidFill>
                  <a:srgbClr val="F8FAFC"/>
                </a:solidFill>
              </a:rPr>
              <a:t>Reclaims up to 70% of analytical hours currently lost to repetitive manual drafting across 7 audience deliverables.</a:t>
            </a:r>
          </a:p>
          <a:p>
            <a:pPr>
              <a:spcBef>
                <a:spcPts val="200"/>
              </a:spcBef>
              <a:defRPr sz="900">
                <a:solidFill>
                  <a:srgbClr val="2DD4BF"/>
                </a:solidFill>
              </a:defRPr>
            </a:pPr>
            <a:r>
              <a:t>Problem Scale: Analysts spend hours per incident manually redrafting briefs.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NATIONAL SECURITY: </a:t>
            </a:r>
            <a:r>
              <a:rPr sz="1000">
                <a:solidFill>
                  <a:srgbClr val="F8FAFC"/>
                </a:solidFill>
              </a:rPr>
              <a:t>Sub-second advisory compilation and distribution without sacrificing technical fidelity or operational security.</a:t>
            </a:r>
          </a:p>
          <a:p>
            <a:pPr>
              <a:spcBef>
                <a:spcPts val="200"/>
              </a:spcBef>
              <a:defRPr sz="900">
                <a:solidFill>
                  <a:srgbClr val="2DD4BF"/>
                </a:solidFill>
              </a:defRPr>
            </a:pPr>
            <a:r>
              <a:t>Problem Scale: CERT-In alone issued 65 formal advisories, 1,530 alerts &amp; 390 vulnerability notes in 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INCIDENT SCALE: </a:t>
            </a:r>
            <a:r>
              <a:rPr sz="1000">
                <a:solidFill>
                  <a:srgbClr val="F8FAFC"/>
                </a:solidFill>
              </a:rPr>
              <a:t>Processes surge-volume intelligence without requiring proportional headcount growth across agency bureaus.</a:t>
            </a:r>
          </a:p>
          <a:p>
            <a:pPr>
              <a:spcBef>
                <a:spcPts val="200"/>
              </a:spcBef>
              <a:defRPr sz="900">
                <a:solidFill>
                  <a:srgbClr val="2DD4BF"/>
                </a:solidFill>
              </a:defRPr>
            </a:pPr>
            <a:r>
              <a:t>Problem Scale: CERT-In handled 29.44 Lakh (2.94M) cyber incidents in 2025, rising ~30% in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6052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TRUST &amp; AUDITABILITY: </a:t>
            </a:r>
            <a:r>
              <a:rPr sz="1000">
                <a:solidFill>
                  <a:srgbClr val="F8FAFC"/>
                </a:solidFill>
              </a:rPr>
              <a:t>Forensic sentence-level citations + Hard Gate eliminate black-box generative drift and ensure legal admissibility.</a:t>
            </a:r>
          </a:p>
          <a:p>
            <a:pPr>
              <a:spcBef>
                <a:spcPts val="200"/>
              </a:spcBef>
              <a:defRPr sz="900">
                <a:solidFill>
                  <a:srgbClr val="2DD4BF"/>
                </a:solidFill>
              </a:defRPr>
            </a:pPr>
            <a:r>
              <a:t>Problem Scale: Unchecked cloud LLMs hallucinate false IPs, organizations, and CVE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698480" cy="868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4ADE80"/>
                </a:solidFill>
              </a:defRPr>
            </a:pPr>
            <a:r>
              <a:t>DATA SOVEREIGNTY: </a:t>
            </a:r>
            <a:r>
              <a:rPr sz="1000">
                <a:solidFill>
                  <a:srgbClr val="F8FAFC"/>
                </a:solidFill>
              </a:rPr>
              <a:t>Guarantees 0 KB outbound network egress. Classified source material never reaches foreign or cloud servers.</a:t>
            </a:r>
          </a:p>
          <a:p>
            <a:pPr>
              <a:spcBef>
                <a:spcPts val="200"/>
              </a:spcBef>
              <a:defRPr sz="900">
                <a:solidFill>
                  <a:srgbClr val="2DD4BF"/>
                </a:solidFill>
              </a:defRPr>
            </a:pPr>
            <a:r>
              <a:t>Problem Scale: Defense regulations strictly prohibit third-party cloud AI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ACADEMIC GROUNDING &amp; INDIA DEFENSE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RESEARCH CITATIONS &amp; THEORETICAL BASIS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Dhuliawala et al. (ACL 2024): </a:t>
            </a:r>
            <a:r>
              <a:rPr sz="900">
                <a:solidFill>
                  <a:srgbClr val="94A3B8"/>
                </a:solidFill>
              </a:rPr>
              <a:t>Chain-of-Verification Reduces Hallucination in Large Language Models (Basis for Verification Gate)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Tang, Laban &amp; Durrett (EMNLP 2024): </a:t>
            </a:r>
            <a:r>
              <a:rPr sz="900">
                <a:solidFill>
                  <a:srgbClr val="94A3B8"/>
                </a:solidFill>
              </a:rPr>
              <a:t>MiniCheck: Efficient Fact-Checking of LLMs on Grounding Documents (Basis for Source Attribution)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Ji et al. (2023, arXiv:2310.06271): </a:t>
            </a:r>
            <a:r>
              <a:rPr sz="900">
                <a:solidFill>
                  <a:srgbClr val="94A3B8"/>
                </a:solidFill>
              </a:rPr>
              <a:t>Towards Mitigating Hallucination in LLMs via Self-Reflection (Basis for Bounded Reflection)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Jacovi et al. (2025, arXiv:2501.03200): </a:t>
            </a:r>
            <a:r>
              <a:rPr sz="900">
                <a:solidFill>
                  <a:srgbClr val="94A3B8"/>
                </a:solidFill>
              </a:rPr>
              <a:t>The FACTS Grounding Leaderboard: Benchmarking Long-Form Input Grounding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</a:defRPr>
            </a:pPr>
            <a:r>
              <a:t>• Edge et al. (Microsoft 2024): </a:t>
            </a:r>
            <a:r>
              <a:rPr sz="900">
                <a:solidFill>
                  <a:srgbClr val="94A3B8"/>
                </a:solidFill>
              </a:rPr>
              <a:t>From Local to Global: GraphRAG Query-Focused Summarization (Phase 2 Roadmap)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212080" cy="411480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200" b="1">
                <a:solidFill>
                  <a:srgbClr val="2DD4BF"/>
                </a:solidFill>
              </a:defRPr>
            </a:pPr>
            <a:r>
              <a:t>INDIA CYBERSECURITY CONTEXT (NTRO &amp; CERT-In)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NCIIPC under NTRO: </a:t>
            </a:r>
            <a:r>
              <a:rPr sz="900">
                <a:solidFill>
                  <a:srgbClr val="94A3B8"/>
                </a:solidFill>
              </a:rPr>
              <a:t>Mandated to protect Critical Information Infrastructure (Power, Defense, Telecom) with near-real-time advisories.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CERT-In National Agency: </a:t>
            </a:r>
            <a:r>
              <a:rPr sz="900">
                <a:solidFill>
                  <a:srgbClr val="94A3B8"/>
                </a:solidFill>
              </a:rPr>
              <a:t>Handles 2.94M annual cyber incidents, requiring multi-audience communication across government and public.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The Dissemination Gap: </a:t>
            </a:r>
            <a:r>
              <a:rPr sz="900">
                <a:solidFill>
                  <a:srgbClr val="94A3B8"/>
                </a:solidFill>
              </a:rPr>
              <a:t>No sovereign, air-gapped platform currently exists in India to automate verified multi-format dissemination.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</a:defRPr>
            </a:pPr>
            <a:r>
              <a:t>• Sovereign Compliance: </a:t>
            </a:r>
            <a:r>
              <a:rPr sz="900">
                <a:solidFill>
                  <a:srgbClr val="94A3B8"/>
                </a:solidFill>
              </a:rPr>
              <a:t>Aligns directly with National Cyber Security Policy mandates requiring 100% on-premise containment.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solidFill>
            <a:srgbClr val="18181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78BFA"/>
                </a:solidFill>
              </a:defRPr>
            </a:pPr>
            <a:r>
              <a:t>SENTINEL-TRANSFORM: Production-Ready Sovereign Multi-Format Transformation for NTRO PS 26154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