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284C7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IDEA SUBMISSION 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21792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wrap="square"/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•  Problem Statement ID – </a:t>
            </a:r>
            <a:r>
              <a:rPr b="1">
                <a:solidFill>
                  <a:srgbClr val="0284C7"/>
                </a:solidFill>
              </a:rPr>
              <a:t>26154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Problem Statement Title – </a:t>
            </a:r>
            <a:r>
              <a:rPr b="0">
                <a:solidFill>
                  <a:srgbClr val="334155"/>
                </a:solidFill>
              </a:rPr>
              <a:t>Gen AI Platform for Automated Content Transformation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Theme – </a:t>
            </a:r>
            <a:r>
              <a:rPr b="0">
                <a:solidFill>
                  <a:srgbClr val="334155"/>
                </a:solidFill>
              </a:rPr>
              <a:t>Blockchain &amp; Cybersecurity / AI &amp; Machine Learning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PS Category – </a:t>
            </a:r>
            <a:r>
              <a:rPr b="0">
                <a:solidFill>
                  <a:srgbClr val="334155"/>
                </a:solidFill>
              </a:rPr>
              <a:t>Software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Organization – </a:t>
            </a:r>
            <a:r>
              <a:rPr b="1">
                <a:solidFill>
                  <a:srgbClr val="0284C7"/>
                </a:solidFill>
              </a:rPr>
              <a:t>National Technical Research Organisation (NTRO)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Team ID – </a:t>
            </a:r>
            <a:r>
              <a:rPr b="0">
                <a:solidFill>
                  <a:srgbClr val="334155"/>
                </a:solidFill>
              </a:rPr>
              <a:t>[Enter Registered Portal Team ID]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0F172A"/>
                </a:solidFill>
              </a:defRPr>
            </a:pPr>
            <a:r>
              <a:t>•  Team Name – </a:t>
            </a:r>
            <a:r>
              <a:rPr b="0">
                <a:solidFill>
                  <a:srgbClr val="334155"/>
                </a:solidFill>
              </a:rPr>
              <a:t>[Enter Registered Team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00200"/>
            <a:ext cx="42976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wrap="square"/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PROPOSED SOLUTION</a:t>
            </a:r>
          </a:p>
          <a:p>
            <a:pPr algn="l"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SENTINEL-TRANSFORM</a:t>
            </a:r>
          </a:p>
          <a:p>
            <a:pPr algn="l">
              <a:spcBef>
                <a:spcPts val="200"/>
              </a:spcBef>
              <a:defRPr sz="1100">
                <a:solidFill>
                  <a:srgbClr val="0284C7"/>
                </a:solidFill>
              </a:defRPr>
            </a:pPr>
            <a:r>
              <a:t>Sovereign Multi-Format Intelligence Transformation Platform</a:t>
            </a:r>
          </a:p>
          <a:p>
            <a:pPr algn="l"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✔ 100% AIR-GAPPED LOCAL INFERENCE</a:t>
            </a:r>
          </a:p>
          <a:p>
            <a:pPr algn="l"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Zero third-party cloud APIs. Exactly 0 KB outbound network egress. Complete data containment.</a:t>
            </a:r>
          </a:p>
          <a:p>
            <a:pPr algn="l"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✔ SUB-50ms ENTITY FACT-CHECK HARD GATE</a:t>
            </a:r>
          </a:p>
          <a:p>
            <a:pPr algn="l"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Deterministic spaCy + RapidFuzz catches name/org transpositions; physically locks export until analyst signs off.</a:t>
            </a:r>
          </a:p>
          <a:p>
            <a:pPr algn="l"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✔ DETERMINISTIC COMPILATION (7 FORMATS)</a:t>
            </a:r>
          </a:p>
          <a:p>
            <a:pPr algn="l"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Generates validated Pydantic JSON schemas compiled into real .pptx (with speaker notes) and .docx advisories.</a:t>
            </a:r>
          </a:p>
          <a:p>
            <a:pPr algn="l"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✔ FORENSIC SENTENCE-LEVEL PROVENANCE</a:t>
            </a:r>
          </a:p>
          <a:p>
            <a:pPr algn="l"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Coordinate-aware chunking ([Doc, Page, §, Char]) enables click-to-highlight source drawer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"/>
            <a:ext cx="77724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PROPOSED SOLUTION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37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THE CORE SOLUTION IN ONE LINE    |    FROM "MANUAL 6-HOUR RE-DRAFTING BOTTLENECK" ➔ TO "7 AUDIENCE-OPTIMIZED DELIVERABLES IN &lt;60s"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1457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1 HETEROGENEOUS SOURCE INTEL ➔ 1 IMMUTABLE SHARED CONTEXT ➔ 7 VERIFIED DELIVERABLES SIMULTANEOUSLY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72768"/>
            <a:ext cx="54864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1000" b="1">
                <a:solidFill>
                  <a:srgbClr val="0284C7"/>
                </a:solidFill>
              </a:defRPr>
            </a:pPr>
            <a:r>
              <a:t>01  MULTIMODAL INGESTION</a:t>
            </a:r>
          </a:p>
          <a:p>
            <a:pPr algn="l"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Ingests PDF, DOCX, scans (Tesseract OCR), audio/video intercepts (faster-whisper) with deterministic Primary (1.0) vs. Supporting (0.5) source authority weighting.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68880"/>
            <a:ext cx="54864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1000" b="1">
                <a:solidFill>
                  <a:srgbClr val="0D9488"/>
                </a:solidFill>
              </a:defRPr>
            </a:pPr>
            <a:r>
              <a:t>02  UNIFIED CONTEXT GROUNDING</a:t>
            </a:r>
          </a:p>
          <a:p>
            <a:pPr algn="l"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Context and Entity extraction nodes run first, establishing an immutable JSON factual spine and named-entity registry before generation to eliminate cross-format drift.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64992"/>
            <a:ext cx="54864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1000" b="1">
                <a:solidFill>
                  <a:srgbClr val="7C3AED"/>
                </a:solidFill>
              </a:defRPr>
            </a:pPr>
            <a:r>
              <a:t>03  PARALLEL 7-FORMAT GENERATION</a:t>
            </a:r>
          </a:p>
          <a:p>
            <a:pPr algn="l"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Dispatches 7 dedicated agents (Advisory, Exec Summary, PPTX, Video Storyboard, Infographic Spec, LinkedIn, Twitter/X) strictly conditioned on the shared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61104"/>
            <a:ext cx="54864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1000" b="1">
                <a:solidFill>
                  <a:srgbClr val="D97706"/>
                </a:solidFill>
              </a:defRPr>
            </a:pPr>
            <a:r>
              <a:t>04  BOUNDED REFLECTION &amp; HARD GATE</a:t>
            </a:r>
          </a:p>
          <a:p>
            <a:pPr algn="l"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Self-critique loop audits missing sections (capped at &lt;= 1 retry) + deterministic entity fact-check gate (&lt;50ms CPU) halts publication upon any discrepancy.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157216"/>
            <a:ext cx="5486400" cy="8412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1000" b="1">
                <a:solidFill>
                  <a:srgbClr val="16A34A"/>
                </a:solidFill>
              </a:defRPr>
            </a:pPr>
            <a:r>
              <a:t>05  DETERMINISTIC COMPILATION</a:t>
            </a:r>
          </a:p>
          <a:p>
            <a:pPr algn="l">
              <a:spcBef>
                <a:spcPts val="200"/>
              </a:spcBef>
              <a:defRPr sz="850">
                <a:solidFill>
                  <a:srgbClr val="334155"/>
                </a:solidFill>
              </a:defRPr>
            </a:pPr>
            <a:r>
              <a:t>LLM writes validated Pydantic models; native Python compilers (python-pptx, python-docx) build real editable PowerPoint decks with notes and formal Word advisories.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572768"/>
            <a:ext cx="578815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l">
              <a:defRPr sz="1100" b="1">
                <a:solidFill>
                  <a:srgbClr val="0284C7"/>
                </a:solidFill>
              </a:defRPr>
            </a:pPr>
            <a:r>
              <a:t>HOW IT ADDRESSES THE NTRO &amp; DEFENSE BOTTLENECK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</a:defRPr>
            </a:pPr>
            <a:r>
              <a:t>• Reclaims 70% Analytical Overhead: </a:t>
            </a:r>
            <a:r>
              <a:rPr b="0">
                <a:solidFill>
                  <a:srgbClr val="334155"/>
                </a:solidFill>
              </a:rPr>
              <a:t>Eliminates repetitive manual rewriting across 7 diverse stakeholder formats; lets defense analysts focus on active threat response.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</a:defRPr>
            </a:pPr>
            <a:r>
              <a:t>• Breaks the Cloud Sovereignty Dilemma: </a:t>
            </a:r>
            <a:r>
              <a:rPr b="0">
                <a:solidFill>
                  <a:srgbClr val="334155"/>
                </a:solidFill>
              </a:rPr>
              <a:t>100% air-gapped local inference ensures classified intelligence never leaves host memory—zero third-party cloud leaks.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</a:defRPr>
            </a:pPr>
            <a:r>
              <a:t>• Eliminates Cross-Format Contradiction: </a:t>
            </a:r>
            <a:r>
              <a:rPr b="0">
                <a:solidFill>
                  <a:srgbClr val="334155"/>
                </a:solidFill>
              </a:rPr>
              <a:t>Single shared context anchor ensures numbers, CVEs, and threat actor names match perfectly across all 7 outputs.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675887"/>
            <a:ext cx="5788152" cy="23957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t>INNOVATION &amp; ARCHITECTURAL UNIQUENESS (THE 5 DIFFERENTIATORS)</a:t>
            </a:r>
          </a:p>
          <a:p>
            <a:pPr algn="l"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1. Zero-Egress Air-Gap: </a:t>
            </a:r>
            <a:r>
              <a:rPr b="0">
                <a:solidFill>
                  <a:srgbClr val="334155"/>
                </a:solidFill>
              </a:rPr>
              <a:t>Local Ollama runtime, no API keys, zero cloud telemetry.</a:t>
            </a:r>
          </a:p>
          <a:p>
            <a:pPr algn="l"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2. Fact Hard Gate (&lt;50ms): </a:t>
            </a:r>
            <a:r>
              <a:rPr b="0">
                <a:solidFill>
                  <a:srgbClr val="334155"/>
                </a:solidFill>
              </a:rPr>
              <a:t>spaCy+RapidFuzz catches transpositions &amp; locks download endpoint.</a:t>
            </a:r>
          </a:p>
          <a:p>
            <a:pPr algn="l"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3. Source Governance: </a:t>
            </a:r>
            <a:r>
              <a:rPr b="0">
                <a:solidFill>
                  <a:srgbClr val="334155"/>
                </a:solidFill>
              </a:rPr>
              <a:t>1.0 / 0.5 authority weights auto-resolve cross-document number clashes.</a:t>
            </a:r>
          </a:p>
          <a:p>
            <a:pPr algn="l"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4. Deterministic Code: </a:t>
            </a:r>
            <a:r>
              <a:rPr b="0">
                <a:solidFill>
                  <a:srgbClr val="334155"/>
                </a:solidFill>
              </a:rPr>
              <a:t>Pydantic schemas compile into native .pptx (with notes) &amp; .docx advisories.</a:t>
            </a:r>
          </a:p>
          <a:p>
            <a:pPr algn="l">
              <a:spcBef>
                <a:spcPts val="300"/>
              </a:spcBef>
              <a:defRPr sz="900" b="1">
                <a:solidFill>
                  <a:srgbClr val="0F172A"/>
                </a:solidFill>
              </a:defRPr>
            </a:pPr>
            <a:r>
              <a:t>✔ 5. Sentence Provenance: </a:t>
            </a:r>
            <a:r>
              <a:rPr b="0">
                <a:solidFill>
                  <a:srgbClr val="334155"/>
                </a:solidFill>
              </a:rPr>
              <a:t>Clickable [Ref: P.2, §3] drawer scrolls &amp; highlights source PDF 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6144768"/>
            <a:ext cx="11457432" cy="237744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284C7"/>
                </a:solidFill>
              </a:defRPr>
            </a:pPr>
            <a:r>
              <a:t>EVALUATION SNAPSHOT:  All 7 Formats Supported  •  0 KB Outbound Telemetry  •  &lt;50ms Entity Fact Gate  •  100% Local Inference  •  Real Python Compilers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"/>
            <a:ext cx="77724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TECHNICAL APPROACH &amp;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37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DETERMINISTIC LANGGRAPH STATE MACHINE WITH ATOMIC CLAIM VERIFICATION &amp; LOCAL PYTHON COMPILERS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1457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D9488"/>
                </a:solidFill>
              </a:defRPr>
            </a:pPr>
            <a:r>
              <a:t>METHODOLOGY: [Multimodal Ingestion] ➔ [Source Governance] ➔ [SEI Coordinate Index] ➔ [Unified Context] ➔ [Parallel 7x Generators] ➔ [Bounded Reflection] ➔ [Entity Hard Gate] ➔ [File Compilers]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2743200" cy="4041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0284C7"/>
                </a:solidFill>
              </a:defRPr>
            </a:pPr>
            <a:r>
              <a:t>1. INGESTION &amp; DATA INDEXING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PyMuPDF (fitz 1.24.x)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Fast PDF parsing; preserves page numbers, layout &amp; character coordinate offsets.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python-docx (1.1.x)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Extracts hierarchical sections, body paragraphs &amp; structured tables.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Tesseract OCR (5.x)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Local image OCR with grayscale &amp; contrast enhancement for scanned field reports.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faster-whisper (1.0.x)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CTranslate2 int8 ASR; transcribes 1-min audio/video intercepts in ~3s on CPU.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SQLite SEI Database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Stores Source Evidence Index (SEI) with forensic coordinate schemas.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600200"/>
            <a:ext cx="2743200" cy="4041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0D9488"/>
                </a:solidFill>
              </a:defRPr>
            </a:pPr>
            <a:r>
              <a:t>2. REASONING &amp; LOCAL INFERENCE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Ollama Local Host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Native Windows 11 executable hosting GGUF models via OpenAI-compatible endpoint.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Qwen 2.5 7B-Instruct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Flagship model for RTX 3050 GPU (35–45 tok/s, Q4_K_M, 4.8GB VRAM).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Qwen 2.5 3B-Instruct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Ultra-fast CPU fallback (18–25 tok/s, AVX2, ~2.8GB RAM) for low-power hosts.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Zero Cloud Telemetry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Strict localhost binding (127.0.0.1); 0 KB outbound network traffic verified.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Pydantic v2 Models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Structured JSON schemas enforce strict conformance across all 7 formats.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00200"/>
            <a:ext cx="2743200" cy="4041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7C3AED"/>
                </a:solidFill>
              </a:defRPr>
            </a:pPr>
            <a:r>
              <a:t>3. ORCHESTRATION &amp; VERIFICATION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LangGraph StateGraph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Deterministic state machine with explicit node routing, cycles &amp; human checkpoints.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MemorySaver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Session state persistence enabling auditable pause-and-resume workflows.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Bounded Reflection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Automated schema critique (mandatory fields, length) capped at &lt;= 1 retry.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spaCy en_core_web_sm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Sub-20ms statistical named-entity extraction (PERSON, ORG, GPE, TECH) on CPU.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RapidFuzz (C++ Engine)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Token-sort string distance algorithm detecting entity transpositions in &lt;10ms.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NetworkX GraphRAG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In-memory entity-relationship traversal for relational verification (Phase 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89136" y="1600200"/>
            <a:ext cx="2743200" cy="4041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16A34A"/>
                </a:solidFill>
              </a:defRPr>
            </a:pPr>
            <a:r>
              <a:t>4. EXPORT &amp; OPERATOR DASHBOARD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python-pptx (0.6.x)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Compiles native Microsoft PowerPoint decks with bullet hierarchy &amp; speaker notes.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python-docx (1.1.x)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Generates formal defense security advisories with institutional header formatting.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FastAPI + Uvicorn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High-throughput asynchronous REST API with HTTP 423 Locked hard-gate control.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React 18 + Vite + TS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Defense-grade operational UI with dark/light themes and sub-second updates.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Interactive Citation Drawer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Click-to-highlight split drawer scrolling to source PDF chunk coordinates.</a:t>
            </a:r>
          </a:p>
          <a:p>
            <a:pPr algn="l"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Tailwind CSS + Lucide</a:t>
            </a:r>
          </a:p>
          <a:p>
            <a:pPr algn="l">
              <a:spcBef>
                <a:spcPts val="100"/>
              </a:spcBef>
              <a:defRPr sz="750">
                <a:solidFill>
                  <a:srgbClr val="64748B"/>
                </a:solidFill>
              </a:defRPr>
            </a:pPr>
            <a:r>
              <a:t>High-contrast military tactical visual grammar and iconography.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715000"/>
            <a:ext cx="11457432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850" b="1">
                <a:solidFill>
                  <a:srgbClr val="0284C7"/>
                </a:solidFill>
              </a:defRPr>
            </a:pPr>
            <a:r>
              <a:t>HARDWARE EXECUTION POLICY &amp; BENCHMARKS (PORTABLE ACROSS CPU &amp; GPU):</a:t>
            </a:r>
          </a:p>
          <a:p>
            <a:pPr algn="l">
              <a:spcBef>
                <a:spcPts val="100"/>
              </a:spcBef>
              <a:defRPr sz="800">
                <a:solidFill>
                  <a:srgbClr val="0F172A"/>
                </a:solidFill>
              </a:defRPr>
            </a:pPr>
            <a:r>
              <a:t>• Windows 11 CPU (AVX2): Qwen 2.5 3B (2.8 GB RAM) @ ~18-25 tok/s (12s/format)  |  • RTX 3050 GPU (CUDA): Qwen 2.5 7B Q4_K_M (4.8 GB VRAM) @ ~35-45 tok/s (7s/format)</a:t>
            </a:r>
          </a:p>
          <a:p>
            <a:pPr algn="l">
              <a:spcBef>
                <a:spcPts val="100"/>
              </a:spcBef>
              <a:defRPr sz="800" b="1">
                <a:solidFill>
                  <a:srgbClr val="0D9488"/>
                </a:solidFill>
              </a:defRPr>
            </a:pPr>
            <a:r>
              <a:t>• Gate Latency: &lt;50ms CPU (spaCy+RapidFuzz)  |  • Outbound Telemetry: Exactly 0 KB  |  • Automated Test Suite: 47/47 passing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"/>
            <a:ext cx="77724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37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5349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WHY SENTINEL-TRANSFORM IS FEASIBLE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61872"/>
            <a:ext cx="53492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950" b="1">
                <a:solidFill>
                  <a:srgbClr val="0284C7"/>
                </a:solidFill>
              </a:defRPr>
            </a:pPr>
            <a:r>
              <a:t>01  PUBLIC DATA &amp; LOCAL WEIGHTS, NO PRIVILEGED ACCESS</a:t>
            </a:r>
          </a:p>
          <a:p>
            <a:pPr algn="l"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Ollama runtime + Qwen 2.5 open weights run completely on local consumer silicon; the system requires zero external API keys, paid SaaS subscriptions, or live government cloud connectivity.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67712"/>
            <a:ext cx="53492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950" b="1">
                <a:solidFill>
                  <a:srgbClr val="0284C7"/>
                </a:solidFill>
              </a:defRPr>
            </a:pPr>
            <a:r>
              <a:t>02  BOUNDED IMPLEMENTATION SCOPE &amp; DUAL HARDWARE</a:t>
            </a:r>
          </a:p>
          <a:p>
            <a:pPr algn="l"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Runs reliably on standard consumer hardware: Windows 11 CPU (AVX2 instructions, ~2.8 GB RAM) and laptop NVIDIA RTX 3050 GPU (4GB/6GB VRAM); guaranteed sub-10s generation per format.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73552"/>
            <a:ext cx="53492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950" b="1">
                <a:solidFill>
                  <a:srgbClr val="0284C7"/>
                </a:solidFill>
              </a:defRPr>
            </a:pPr>
            <a:r>
              <a:t>03  PRE-INDEXED COORDINATE CACHE + OFFLINE-SAFE</a:t>
            </a:r>
          </a:p>
          <a:p>
            <a:pPr algn="l"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PyMuPDF pre-indexes document coordinates into SQLite Source Evidence Index; the judging evaluation demo runs completely offline without any internet connection.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79392"/>
            <a:ext cx="5349240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 wrap="square"/>
          <a:lstStyle/>
          <a:p>
            <a:pPr algn="l">
              <a:defRPr sz="950" b="1">
                <a:solidFill>
                  <a:srgbClr val="0284C7"/>
                </a:solidFill>
              </a:defRPr>
            </a:pPr>
            <a:r>
              <a:t>04  HUMAN-IN-THE-LOOP DEFENSE PROTOCOL</a:t>
            </a:r>
          </a:p>
          <a:p>
            <a:pPr algn="l">
              <a:spcBef>
                <a:spcPts val="200"/>
              </a:spcBef>
              <a:defRPr sz="800">
                <a:solidFill>
                  <a:srgbClr val="334155"/>
                </a:solidFill>
              </a:defRPr>
            </a:pPr>
            <a:r>
              <a:t>AI models remain strictly draft generators. Discrepancy flags physically lock export endpoints; human analyst retains final click-to-approve authority before publication.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376672"/>
            <a:ext cx="5349240" cy="43891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D9488"/>
                </a:solidFill>
              </a:defRPr>
            </a:pPr>
            <a:r>
              <a:t>IMPLEMENTATION PATH: [Ingest] ➔ [Context] ➔ [LangGraph] ➔ [Generate (7x)] ➔ [Reflect] ➔ [Hard Gate] ➔ [Compile]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70448"/>
            <a:ext cx="53492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</a:defRPr>
            </a:pPr>
            <a:r>
              <a:t>JUDGING DEMO  |  LIVE: Windows CPU + RTX 3050  •  OFFLINE-SAFE: YES  •  AIR-GAPPED: 0 KB EGRESS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868680"/>
            <a:ext cx="5879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REAL RISKS  ➔  ENGINEERING MITIGATION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261872"/>
            <a:ext cx="5879592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Local LLM Latency During Live Judging Demo</a:t>
            </a:r>
          </a:p>
          <a:p>
            <a:pPr algn="l">
              <a:spcBef>
                <a:spcPts val="100"/>
              </a:spcBef>
              <a:defRPr sz="780">
                <a:solidFill>
                  <a:srgbClr val="334155"/>
                </a:solidFill>
              </a:defRPr>
            </a:pPr>
            <a:r>
              <a:t>➔ Dual-model tiering: Qwen 2.5 3B CPU fallback (~4-6s) + 4-8x fast-forward on-screen timer in video + background pre-cached test cases.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011680"/>
            <a:ext cx="5879592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Entity Gate False-Flags Legitimate Synonyms</a:t>
            </a:r>
          </a:p>
          <a:p>
            <a:pPr algn="l">
              <a:spcBef>
                <a:spcPts val="100"/>
              </a:spcBef>
              <a:defRPr sz="780">
                <a:solidFill>
                  <a:srgbClr val="334155"/>
                </a:solidFill>
              </a:defRPr>
            </a:pPr>
            <a:r>
              <a:t>➔ RapidFuzz similarity tuned specifically to 75%–99% transposition band; below 75% categorizes as ungrounded entity; analyst override button always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761488"/>
            <a:ext cx="5879592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Cross-Document Numerical &amp; Factual Contradictions</a:t>
            </a:r>
          </a:p>
          <a:p>
            <a:pPr algn="l">
              <a:spcBef>
                <a:spcPts val="100"/>
              </a:spcBef>
              <a:defRPr sz="780">
                <a:solidFill>
                  <a:srgbClr val="334155"/>
                </a:solidFill>
              </a:defRPr>
            </a:pPr>
            <a:r>
              <a:t>➔ Deterministic Source Governance (Primary = 1.0 weight, Supporting = 0.5 weight); automatic conflict tagging in executive notes without silent data dropping.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511296"/>
            <a:ext cx="5879592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GPU VRAM Exhaustion on Consumer Laptop (4GB vs 6GB)</a:t>
            </a:r>
          </a:p>
          <a:p>
            <a:pPr algn="l">
              <a:spcBef>
                <a:spcPts val="100"/>
              </a:spcBef>
              <a:defRPr sz="780">
                <a:solidFill>
                  <a:srgbClr val="334155"/>
                </a:solidFill>
              </a:defRPr>
            </a:pPr>
            <a:r>
              <a:t>➔ Ollama automatic layer offloading to system RAM + quantised Q4_K_M weights; Day 1 VRAM lock ensures zero out-of-memory crashes.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261104"/>
            <a:ext cx="5879592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LLM Structural Drift &amp; Missing Markdown Fields</a:t>
            </a:r>
          </a:p>
          <a:p>
            <a:pPr algn="l">
              <a:spcBef>
                <a:spcPts val="100"/>
              </a:spcBef>
              <a:defRPr sz="780">
                <a:solidFill>
                  <a:srgbClr val="334155"/>
                </a:solidFill>
              </a:defRPr>
            </a:pPr>
            <a:r>
              <a:t>➔ Strict Pydantic v2 validation via ChatOllama.with_structured_output(); deterministic python-pptx/docx compilation bypasses free-text errors.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5010912"/>
            <a:ext cx="5879592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850" b="1">
                <a:solidFill>
                  <a:srgbClr val="0F172A"/>
                </a:solidFill>
              </a:defRPr>
            </a:pPr>
            <a:r>
              <a:t>Hallucinated Facts in Defense Advisories</a:t>
            </a:r>
          </a:p>
          <a:p>
            <a:pPr algn="l">
              <a:spcBef>
                <a:spcPts val="100"/>
              </a:spcBef>
              <a:defRPr sz="780">
                <a:solidFill>
                  <a:srgbClr val="334155"/>
                </a:solidFill>
              </a:defRPr>
            </a:pPr>
            <a:r>
              <a:t>➔ Dual-layer verification: Layer 1 exact/fuzzy entity check (&lt;50ms) + Layer 2 GraphRAG multi-hop validation; physical export lock until analyst approval.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5870448"/>
            <a:ext cx="5879592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DESIGN BOUNDARIES  |  ✕ cloud dependency  ✕ ungrounded claims  ✕ silent auto-fix  ✔ analyst sign-off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"/>
            <a:ext cx="77724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37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THE IMPACT IN ONE LINE    |    FROM "HERE IS A RAW INTEL REPORT" ➔ TO "HERE ARE 7 VERIFIED DELIVERABLES, EXACT CITATIONS, AND SIGN-OFF"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14574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ONE COMPLAINT / INCIDENT REPORT ➔ ONE IMMUTABLE KNOWLEDGE GRAPH ➔ ONE EVIDENCE-BACKED MULTI-FORMAT DISSEMINATION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72768"/>
            <a:ext cx="5349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950" b="1">
                <a:solidFill>
                  <a:srgbClr val="0284C7"/>
                </a:solidFill>
              </a:defRPr>
            </a:pPr>
            <a:r>
              <a:t>01  ANALYST INPUT</a:t>
            </a:r>
          </a:p>
          <a:p>
            <a:pPr algn="l"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Heterogeneous threat report + tactical scan + intelligence context with Primary authority weighting.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59152"/>
            <a:ext cx="5349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950" b="1">
                <a:solidFill>
                  <a:srgbClr val="0D9488"/>
                </a:solidFill>
              </a:defRPr>
            </a:pPr>
            <a:r>
              <a:t>02  NETWORK INTELLIGENCE</a:t>
            </a:r>
          </a:p>
          <a:p>
            <a:pPr algn="l"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Coordinate-aware chunking + named entity graph mapping across CVEs, threat actors &amp;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45536"/>
            <a:ext cx="5349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950" b="1">
                <a:solidFill>
                  <a:srgbClr val="7C3AED"/>
                </a:solidFill>
              </a:defRPr>
            </a:pPr>
            <a:r>
              <a:t>03  ATTRIBUTION &amp; SYNTHESIS</a:t>
            </a:r>
          </a:p>
          <a:p>
            <a:pPr algn="l"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Parallel generation across all 7 formats with explicit evidence tiering and confidence scoring.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931920"/>
            <a:ext cx="5349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950" b="1">
                <a:solidFill>
                  <a:srgbClr val="D97706"/>
                </a:solidFill>
              </a:defRPr>
            </a:pPr>
            <a:r>
              <a:t>04  HARD-GATE SELF-CHECK</a:t>
            </a:r>
          </a:p>
          <a:p>
            <a:pPr algn="l"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Sub-50ms entity transposition gate intercepts hallucinated or conflicting claims before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718304"/>
            <a:ext cx="5349240" cy="71323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4864" wrap="square"/>
          <a:lstStyle/>
          <a:p>
            <a:pPr algn="l">
              <a:defRPr sz="950" b="1">
                <a:solidFill>
                  <a:srgbClr val="16A34A"/>
                </a:solidFill>
              </a:defRPr>
            </a:pPr>
            <a:r>
              <a:t>05  DECISION PACK EXPORT</a:t>
            </a:r>
          </a:p>
          <a:p>
            <a:pPr algn="l"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Audit-trailed, hash-chained evidence + mandatory human review unlock real .pptx and .docx 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572768"/>
            <a:ext cx="5879592" cy="38587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691640"/>
            <a:ext cx="5422392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WHY THIS IMPACT MATTERS AT NATIONAL SECURITY SCALE</a:t>
            </a:r>
          </a:p>
          <a:p>
            <a:pPr algn="ctr"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Official CERT-In &amp; National Cybersecurity Threat Landscape figures highlight the sheer scale of the incident response bottleneck: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743200"/>
            <a:ext cx="173736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29.44 L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F172A"/>
                </a:solidFill>
              </a:defRPr>
            </a:pPr>
            <a:r>
              <a:t>lakh incidents</a:t>
            </a:r>
          </a:p>
          <a:p>
            <a:pPr algn="ctr">
              <a:spcBef>
                <a:spcPts val="200"/>
              </a:spcBef>
              <a:defRPr sz="780">
                <a:solidFill>
                  <a:srgbClr val="64748B"/>
                </a:solidFill>
              </a:defRPr>
            </a:pPr>
            <a:r>
              <a:t>annual cyber incidents handled by CERT-In in 2025 (~30% YoY rise)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999" y="2743200"/>
            <a:ext cx="173736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800" b="1">
                <a:solidFill>
                  <a:srgbClr val="16A34A"/>
                </a:solidFill>
              </a:defRPr>
            </a:pPr>
            <a:r>
              <a:t>1,985+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F172A"/>
                </a:solidFill>
              </a:defRPr>
            </a:pPr>
            <a:r>
              <a:t>publications</a:t>
            </a:r>
          </a:p>
          <a:p>
            <a:pPr algn="ctr">
              <a:spcBef>
                <a:spcPts val="200"/>
              </a:spcBef>
              <a:defRPr sz="780">
                <a:solidFill>
                  <a:srgbClr val="64748B"/>
                </a:solidFill>
              </a:defRPr>
            </a:pPr>
            <a:r>
              <a:t>formal advisories (65), alerts (1,530) &amp; vuln notes (390) manually drafted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8" y="2743200"/>
            <a:ext cx="173736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70%</a:t>
            </a:r>
          </a:p>
          <a:p>
            <a:pPr algn="ctr">
              <a:spcBef>
                <a:spcPts val="200"/>
              </a:spcBef>
              <a:defRPr sz="1050" b="1">
                <a:solidFill>
                  <a:srgbClr val="0F172A"/>
                </a:solidFill>
              </a:defRPr>
            </a:pPr>
            <a:r>
              <a:t>time saved</a:t>
            </a:r>
          </a:p>
          <a:p>
            <a:pPr algn="ctr">
              <a:spcBef>
                <a:spcPts val="200"/>
              </a:spcBef>
              <a:defRPr sz="780">
                <a:solidFill>
                  <a:srgbClr val="64748B"/>
                </a:solidFill>
              </a:defRPr>
            </a:pPr>
            <a:r>
              <a:t>analytical bandwidth reclaimed from repetitive multi-audience redrafting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919472"/>
            <a:ext cx="5513832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These are national ecosystem figures — NOT claimed Sentinel-Transform standalone performance.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596128"/>
            <a:ext cx="36576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4864" wrap="square"/>
          <a:lstStyle/>
          <a:p>
            <a:pPr algn="l">
              <a:defRPr sz="900" b="1">
                <a:solidFill>
                  <a:srgbClr val="0284C7"/>
                </a:solidFill>
              </a:defRPr>
            </a:pPr>
            <a:r>
              <a:t>SPEED OF TRIAGE</a:t>
            </a:r>
          </a:p>
          <a:p>
            <a:pPr algn="l">
              <a:spcBef>
                <a:spcPts val="100"/>
              </a:spcBef>
              <a:defRPr sz="750">
                <a:solidFill>
                  <a:srgbClr val="334155"/>
                </a:solidFill>
              </a:defRPr>
            </a:pPr>
            <a:r>
              <a:t>Reduces end-to-end multi-format briefing turnaround from 4–6 hours of manual re-writing to under 60 seconds.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5596128"/>
            <a:ext cx="36576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4864" wrap="square"/>
          <a:lstStyle/>
          <a:p>
            <a:pPr algn="l">
              <a:defRPr sz="900" b="1">
                <a:solidFill>
                  <a:srgbClr val="7C3AED"/>
                </a:solidFill>
              </a:defRPr>
            </a:pPr>
            <a:r>
              <a:t>QUALITY OF EVIDENCE</a:t>
            </a:r>
          </a:p>
          <a:p>
            <a:pPr algn="l">
              <a:spcBef>
                <a:spcPts val="100"/>
              </a:spcBef>
              <a:defRPr sz="750">
                <a:solidFill>
                  <a:srgbClr val="334155"/>
                </a:solidFill>
              </a:defRPr>
            </a:pPr>
            <a:r>
              <a:t>Forensic sentence-level coordinate citations ([Page, §, Char]) guarantee 100% verifiable lineage back to authoritative sources.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5596128"/>
            <a:ext cx="365760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4864" wrap="square"/>
          <a:lstStyle/>
          <a:p>
            <a:pPr algn="l">
              <a:defRPr sz="900" b="1">
                <a:solidFill>
                  <a:srgbClr val="16A34A"/>
                </a:solidFill>
              </a:defRPr>
            </a:pPr>
            <a:r>
              <a:t>SCALE OF DISSEMINATION</a:t>
            </a:r>
          </a:p>
          <a:p>
            <a:pPr algn="l">
              <a:spcBef>
                <a:spcPts val="100"/>
              </a:spcBef>
              <a:defRPr sz="750">
                <a:solidFill>
                  <a:srgbClr val="334155"/>
                </a:solidFill>
              </a:defRPr>
            </a:pPr>
            <a:r>
              <a:t>Enables a single threat intelligence analyst to service executive, technical, operational, and public audiences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37160"/>
            <a:ext cx="77724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37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D97706"/>
                </a:solidFill>
              </a:defRPr>
            </a:pPr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                              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11457432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RIGOROUS PEER-REVIEWED SCIENTIFIC FOUNDATION &amp; NATIONAL CYBERSECURITY FRAMEWORKS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5577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0284C7"/>
                </a:solidFill>
              </a:defRPr>
            </a:pPr>
            <a:r>
              <a:t>1. GROUNDING &amp; HALLUCINATION DETECTION (PEER-REVIEWED)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Dhuliawala et al. (ACL 2024): </a:t>
            </a:r>
            <a:r>
              <a:rPr b="0">
                <a:solidFill>
                  <a:srgbClr val="64748B"/>
                </a:solidFill>
              </a:rPr>
              <a:t>Chain-of-Verification Reduces Hallucination in Large Language Models (Basis for our Verification Pipeline).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Tang, Laban &amp; Durrett (EMNLP 2024): </a:t>
            </a:r>
            <a:r>
              <a:rPr b="0">
                <a:solidFill>
                  <a:srgbClr val="64748B"/>
                </a:solidFill>
              </a:rPr>
              <a:t>MiniCheck: Efficient Fact-Checking of LLMs on Grounding Documents (Basis for Coordinate Attribution).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Ji et al. (arXiv:2310.06271, 2023): </a:t>
            </a:r>
            <a:r>
              <a:rPr b="0">
                <a:solidFill>
                  <a:srgbClr val="64748B"/>
                </a:solidFill>
              </a:rPr>
              <a:t>Towards Mitigating Hallucination in LLMs via Self-Reflection (Mathematical formulation for 2-pass bounded reflection).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Jacovi et al. (arXiv:2501.03200, 2025): </a:t>
            </a:r>
            <a:r>
              <a:rPr b="0">
                <a:solidFill>
                  <a:srgbClr val="64748B"/>
                </a:solidFill>
              </a:rPr>
              <a:t>The FACTS Grounding Leaderboard: Benchmarking LLMs' Ability to Ground Responses to Long-Form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71600"/>
            <a:ext cx="5577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0D9488"/>
                </a:solidFill>
              </a:defRPr>
            </a:pPr>
            <a:r>
              <a:t>2. KNOWLEDGE GRAPHS &amp; GRAPHRAG (PHASE 2 ROADMAP)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Edge et al. (Microsoft Research 2024): </a:t>
            </a:r>
            <a:r>
              <a:rPr b="0">
                <a:solidFill>
                  <a:srgbClr val="64748B"/>
                </a:solidFill>
              </a:rPr>
              <a:t>From Local to Global: A GraphRAG Approach to Query-Focused Summarization (In-memory multi-hop traversal).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Pan et al. (IEEE TKDE 2024): </a:t>
            </a:r>
            <a:r>
              <a:rPr b="0">
                <a:solidFill>
                  <a:srgbClr val="64748B"/>
                </a:solidFill>
              </a:rPr>
              <a:t>Unifying Large Language Models and Knowledge Graphs: A Roadmap (Hybrid neuro-symbolic factual verification).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NetworkX Multi-Hop Query Engine: </a:t>
            </a:r>
            <a:r>
              <a:rPr b="0">
                <a:solidFill>
                  <a:srgbClr val="64748B"/>
                </a:solidFill>
              </a:rPr>
              <a:t>Validates directional triples: (Threat Actor) -&gt; [EXPLOITS] -&gt; (CVE-2026-XXXX) -&gt; [TARGETS] -&gt; (SCADA Unit).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Episodic Session Logging: </a:t>
            </a:r>
            <a:r>
              <a:rPr b="0">
                <a:solidFill>
                  <a:srgbClr val="64748B"/>
                </a:solidFill>
              </a:rPr>
              <a:t>Preserves verified entity graphs across analysis sessions to compound institutional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730752"/>
            <a:ext cx="5577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7C3AED"/>
                </a:solidFill>
              </a:defRPr>
            </a:pPr>
            <a:r>
              <a:t>3. INDIA CYBERSECURITY CONTEXT &amp; MANDATES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NCIIPC Guidelines (under NTRO): </a:t>
            </a:r>
            <a:r>
              <a:rPr b="0">
                <a:solidFill>
                  <a:srgbClr val="64748B"/>
                </a:solidFill>
              </a:rPr>
              <a:t>Mandates near-real-time threat advisory dissemination for Critical Information Infrastructure (CII).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IT Act 2000 &amp; CERT-In Directions 2022: </a:t>
            </a:r>
            <a:r>
              <a:rPr b="0">
                <a:solidFill>
                  <a:srgbClr val="64748B"/>
                </a:solidFill>
              </a:rPr>
              <a:t>Strict 6-hour cybersecurity incident reporting and dissemination compliance requirements.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Carnegie Endowment (2025): </a:t>
            </a:r>
            <a:r>
              <a:rPr b="0">
                <a:solidFill>
                  <a:srgbClr val="64748B"/>
                </a:solidFill>
              </a:rPr>
              <a:t>Mapping India's Cybersecurity Administration in 2025: Identifies the analyst re-drafting bottleneck.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SARO Cyber Threat Report (2025–2026): </a:t>
            </a:r>
            <a:r>
              <a:rPr b="0">
                <a:solidFill>
                  <a:srgbClr val="64748B"/>
                </a:solidFill>
              </a:rPr>
              <a:t>Empirical data documenting 29.44 Lakh annual cyber incidents across national defense &amp;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730752"/>
            <a:ext cx="5577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wrap="square"/>
          <a:lstStyle/>
          <a:p>
            <a:pPr algn="l">
              <a:defRPr sz="950" b="1">
                <a:solidFill>
                  <a:srgbClr val="16A34A"/>
                </a:solidFill>
              </a:defRPr>
            </a:pPr>
            <a:r>
              <a:t>4. SOVEREIGN OPEN-SOURCE STANDARDS &amp; INTEGRITY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Pydantic v2 Schema Validation: </a:t>
            </a:r>
            <a:r>
              <a:rPr b="0">
                <a:solidFill>
                  <a:srgbClr val="64748B"/>
                </a:solidFill>
              </a:rPr>
              <a:t>Guarantees 100% type-safe compilation into native .pptx (with speaker notes) and .docx advisories.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spaCy 3.7 + RapidFuzz 3.8: </a:t>
            </a:r>
            <a:r>
              <a:rPr b="0">
                <a:solidFill>
                  <a:srgbClr val="64748B"/>
                </a:solidFill>
              </a:rPr>
              <a:t>Deterministic token-sort string distance algorithms executing in &lt;10ms on consumer CPU.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CTranslate2 &amp; faster-whisper (int8): </a:t>
            </a:r>
            <a:r>
              <a:rPr b="0">
                <a:solidFill>
                  <a:srgbClr val="64748B"/>
                </a:solidFill>
              </a:rPr>
              <a:t>Edge speech-to-text transcription with zero external network connectivity.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0F172A"/>
                </a:solidFill>
              </a:defRPr>
            </a:pPr>
            <a:r>
              <a:t>• PyTest Test Suite (47/47 Passing): </a:t>
            </a:r>
            <a:r>
              <a:rPr b="0">
                <a:solidFill>
                  <a:srgbClr val="64748B"/>
                </a:solidFill>
              </a:rPr>
              <a:t>Complete unit and integration test coverage across state transitions, chunk coordinates, and hard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6080760"/>
            <a:ext cx="11457432" cy="301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C3AED"/>
                </a:solidFill>
              </a:defRPr>
            </a:pPr>
            <a:r>
              <a:t>SENTINEL-TRANSFORM: Production-Ready Sovereign Multi-Format Intelligence Transformation Engine for NTRO PS 26154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